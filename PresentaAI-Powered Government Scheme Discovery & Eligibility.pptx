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92" r:id="rId5"/>
    <p:sldId id="294" r:id="rId6"/>
    <p:sldId id="276" r:id="rId7"/>
    <p:sldId id="275" r:id="rId8"/>
    <p:sldId id="295" r:id="rId9"/>
    <p:sldId id="282" r:id="rId10"/>
    <p:sldId id="277" r:id="rId11"/>
    <p:sldId id="284" r:id="rId12"/>
    <p:sldId id="296" r:id="rId13"/>
    <p:sldId id="297" r:id="rId14"/>
    <p:sldId id="283" r:id="rId15"/>
    <p:sldId id="288" r:id="rId16"/>
    <p:sldId id="28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634"/>
  </p:normalViewPr>
  <p:slideViewPr>
    <p:cSldViewPr snapToGrid="0" showGuides="1">
      <p:cViewPr varScale="1">
        <p:scale>
          <a:sx n="75" d="100"/>
          <a:sy n="75" d="100"/>
        </p:scale>
        <p:origin x="327" y="27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7/27/2026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799336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35818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14374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05249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61386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484497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36778-31C0-DCC3-B78C-D3A878182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FAB27C-448D-217C-5091-442FD4294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92CB3-92C4-E07E-9F8D-34AD762CD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C708A-60CD-D945-AF3F-81AC8F7C18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542580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10F9-1B06-42D3-F2D0-E861D81A2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7A8919-FC8F-F974-BCD1-5D1F4A27D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B4CA53-B7DE-42D1-DEA0-4B5F41EBE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E31D8-F35D-7673-B220-14EE497E3A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12757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8206457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9793020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92" y="121380"/>
            <a:ext cx="8678833" cy="1967236"/>
          </a:xfrm>
        </p:spPr>
        <p:txBody>
          <a:bodyPr/>
          <a:lstStyle/>
          <a:p>
            <a:r>
              <a:rPr lang="en-US" altLang="zh-CN" sz="4000" dirty="0">
                <a:latin typeface="Arial Black" panose="020B0A04020102020204" pitchFamily="34" charset="0"/>
              </a:rPr>
              <a:t>Presenta</a:t>
            </a:r>
            <a:r>
              <a:rPr lang="en-IN" sz="4000" dirty="0">
                <a:latin typeface="Arial Black" panose="020B0A04020102020204" pitchFamily="34" charset="0"/>
              </a:rPr>
              <a:t>AI-Powered Government Scheme Discovery &amp; Eligibility</a:t>
            </a:r>
            <a:endParaRPr lang="en-US" sz="4000" dirty="0">
              <a:latin typeface="Arial Black" panose="020B0A040201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601365" y="4172084"/>
            <a:ext cx="4394833" cy="76028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Presenter Name : Vyshnav Hareendran</a:t>
            </a:r>
          </a:p>
        </p:txBody>
      </p:sp>
      <p:pic>
        <p:nvPicPr>
          <p:cNvPr id="30" name="Picture placeholder 29" descr="People in an office discussing work over a laptop&#10;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75" r="1875"/>
          <a:stretch/>
        </p:blipFill>
        <p:spPr>
          <a:xfrm>
            <a:off x="7430377" y="821836"/>
            <a:ext cx="4405503" cy="5066346"/>
          </a:xfrm>
        </p:spPr>
      </p:pic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532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25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24D17C-95DF-DF6F-D564-A861ACADA1D5}"/>
              </a:ext>
            </a:extLst>
          </p:cNvPr>
          <p:cNvSpPr txBox="1"/>
          <p:nvPr/>
        </p:nvSpPr>
        <p:spPr>
          <a:xfrm>
            <a:off x="133392" y="1896663"/>
            <a:ext cx="502932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latin typeface="Arial Black" panose="020B0A04020102020204" pitchFamily="34" charset="0"/>
              </a:rPr>
              <a:t>Recommendation Platform</a:t>
            </a: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3663CA-BA5A-41E7-1FBE-D38846DFE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0570" y="234669"/>
            <a:ext cx="4518122" cy="567232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PROBLEM STATEMENT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CEC6EF-006F-693B-5D79-47FD797CB22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634753" y="967999"/>
            <a:ext cx="6365735" cy="1688906"/>
          </a:xfrm>
        </p:spPr>
        <p:txBody>
          <a:bodyPr/>
          <a:lstStyle/>
          <a:p>
            <a:pPr algn="just"/>
            <a:r>
              <a:rPr lang="en-I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Government schemes are distributed across numerous Central and State Government portals, making it difficult for citizens to discover and understand schemes relevant to them.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C7500-E032-DBB5-A780-8247E3B7367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C55B74-9704-3CB3-5918-3470B8A33078}"/>
              </a:ext>
            </a:extLst>
          </p:cNvPr>
          <p:cNvSpPr txBox="1"/>
          <p:nvPr/>
        </p:nvSpPr>
        <p:spPr>
          <a:xfrm>
            <a:off x="4621771" y="3429000"/>
            <a:ext cx="7775719" cy="307776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Arial Black" panose="020B0A04020102020204" pitchFamily="34" charset="0"/>
              </a:rPr>
              <a:t>Major Challenges:</a:t>
            </a:r>
          </a:p>
          <a:p>
            <a:endParaRPr lang="en-IN" sz="1600" b="1" dirty="0">
              <a:latin typeface="Arial Black" panose="020B0A04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Difficulty finding suitable government schemes.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Scheme information is scattered across multiple official websites.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Eligibility criteria can be complex to understand.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Users may not know the required documents or application procedure.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Scheme benefits, deadlines, and eligibility conditions may change.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Users may struggle to locate the correct official application portal.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Searching manually across multiple government websites is time-consuming.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5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096" y="56645"/>
            <a:ext cx="4045855" cy="863313"/>
          </a:xfrm>
        </p:spPr>
        <p:txBody>
          <a:bodyPr/>
          <a:lstStyle/>
          <a:p>
            <a:r>
              <a:rPr lang="en-IN" sz="2700" dirty="0">
                <a:latin typeface="Arial Black" panose="020B0A04020102020204" pitchFamily="34" charset="0"/>
              </a:rPr>
              <a:t>Project Objective</a:t>
            </a:r>
            <a:endParaRPr lang="en-US" sz="2700" dirty="0">
              <a:latin typeface="Arial Black" panose="020B0A04020102020204" pitchFamily="34" charset="0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70096" y="709566"/>
            <a:ext cx="4490916" cy="2171612"/>
          </a:xfrm>
        </p:spPr>
        <p:txBody>
          <a:bodyPr/>
          <a:lstStyle/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To develop an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AI-powered web platform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that helps users discover suitable Central and State Government schemes through intelligent search, eligibility assessment, and an AI conversational assistant.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Placeholder 11" descr="People around a table on their laptops">
            <a:extLst>
              <a:ext uri="{FF2B5EF4-FFF2-40B4-BE49-F238E27FC236}">
                <a16:creationId xmlns:a16="http://schemas.microsoft.com/office/drawing/2014/main" id="{8C4B5C6A-45B4-1976-622A-4CEB4E3211B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92317" y="8500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767F8-4670-E83D-85F4-1446B8B9D466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2A4874-B5DE-9252-345C-BB5D0F6A8888}"/>
              </a:ext>
            </a:extLst>
          </p:cNvPr>
          <p:cNvSpPr txBox="1"/>
          <p:nvPr/>
        </p:nvSpPr>
        <p:spPr>
          <a:xfrm>
            <a:off x="170096" y="2686632"/>
            <a:ext cx="5542352" cy="23698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The platform will: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Centralize government scheme information.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Recommend schemes based on user profiles.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Provide an AI chatbot for natural-language queries.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Explain scheme eligibility, benefits, documents, and application procedures.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Provide links to official government sources and application portals.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Track changes and updates to government schemes.</a:t>
            </a:r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DF64211-DCD8-B458-DBD2-EBDA7AE3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>
                <a:latin typeface="Arial Black" panose="020B0A04020102020204" pitchFamily="34" charset="0"/>
              </a:rPr>
              <a:t>Target Users</a:t>
            </a:r>
            <a:endParaRPr lang="en-US" sz="4000" dirty="0">
              <a:latin typeface="Arial Black" panose="020B0A04020102020204" pitchFamily="34" charset="0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FEA3BB9-F064-CFBE-C0BE-BB7A22A4DCF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74027" y="1124884"/>
            <a:ext cx="1913128" cy="1054727"/>
          </a:xfrm>
        </p:spPr>
        <p:txBody>
          <a:bodyPr/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Farmers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024C77-A2F8-1ABA-5412-E6BB88B5FA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75472" y="1124884"/>
            <a:ext cx="1904890" cy="1054728"/>
          </a:xfrm>
        </p:spPr>
        <p:txBody>
          <a:bodyPr/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Students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41202DB-E499-EB19-8A48-A3301DA59ED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321949" y="2828319"/>
            <a:ext cx="1914694" cy="1089194"/>
          </a:xfrm>
        </p:spPr>
        <p:txBody>
          <a:bodyPr/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Entrepreneurs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5402852-C1AD-6A4E-DAA7-0AE582A742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401559" y="2768788"/>
            <a:ext cx="1913128" cy="1107124"/>
          </a:xfrm>
        </p:spPr>
        <p:txBody>
          <a:bodyPr/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Startups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BF1D337-2A3C-A0FB-A6CD-5E4B9D6DFD9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375472" y="4631269"/>
            <a:ext cx="1913128" cy="1075689"/>
          </a:xfrm>
        </p:spPr>
        <p:txBody>
          <a:bodyPr/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MSMEs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ooter Placeholder 19">
            <a:extLst>
              <a:ext uri="{FF2B5EF4-FFF2-40B4-BE49-F238E27FC236}">
                <a16:creationId xmlns:a16="http://schemas.microsoft.com/office/drawing/2014/main" id="{A6E539FA-B60E-5585-524F-1BFA8C5B3E2F}"/>
              </a:ext>
            </a:extLst>
          </p:cNvPr>
          <p:cNvSpPr txBox="1">
            <a:spLocks/>
          </p:cNvSpPr>
          <p:nvPr/>
        </p:nvSpPr>
        <p:spPr>
          <a:xfrm>
            <a:off x="486699" y="6085719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Presentation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E681AB-301C-4DC8-7FBD-FAA2CC6606A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5A4F2B-A5D4-AED9-E9B4-0B8B67D4B83E}"/>
              </a:ext>
            </a:extLst>
          </p:cNvPr>
          <p:cNvSpPr txBox="1"/>
          <p:nvPr/>
        </p:nvSpPr>
        <p:spPr>
          <a:xfrm>
            <a:off x="5306217" y="3024914"/>
            <a:ext cx="17941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Women Entrepreneurs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09364C-5A1B-EAA0-C5FE-43B29CE7773B}"/>
              </a:ext>
            </a:extLst>
          </p:cNvPr>
          <p:cNvSpPr txBox="1"/>
          <p:nvPr/>
        </p:nvSpPr>
        <p:spPr>
          <a:xfrm>
            <a:off x="6274027" y="4969059"/>
            <a:ext cx="17152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Job Seekers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19F99E-2B1C-C863-E599-26F13097BDFA}"/>
              </a:ext>
            </a:extLst>
          </p:cNvPr>
          <p:cNvSpPr txBox="1"/>
          <p:nvPr/>
        </p:nvSpPr>
        <p:spPr>
          <a:xfrm>
            <a:off x="10641198" y="1329081"/>
            <a:ext cx="15508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Senior Citizens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1F0DB8-44B0-D288-A0E5-E8EDC57F56D5}"/>
              </a:ext>
            </a:extLst>
          </p:cNvPr>
          <p:cNvSpPr txBox="1"/>
          <p:nvPr/>
        </p:nvSpPr>
        <p:spPr>
          <a:xfrm>
            <a:off x="10558962" y="4815170"/>
            <a:ext cx="17152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Business Owners</a:t>
            </a:r>
          </a:p>
        </p:txBody>
      </p:sp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84" y="205399"/>
            <a:ext cx="2863622" cy="1421100"/>
          </a:xfrm>
        </p:spPr>
        <p:txBody>
          <a:bodyPr/>
          <a:lstStyle/>
          <a:p>
            <a:r>
              <a:rPr lang="en-IN" sz="4000" dirty="0">
                <a:latin typeface="Arial Black" panose="020B0A04020102020204" pitchFamily="34" charset="0"/>
              </a:rPr>
              <a:t>Proposed Solution</a:t>
            </a:r>
            <a:endParaRPr lang="en-US" sz="4000" dirty="0">
              <a:latin typeface="Arial Black" panose="020B0A04020102020204" pitchFamily="34" charset="0"/>
            </a:endParaRPr>
          </a:p>
        </p:txBody>
      </p:sp>
      <p:pic>
        <p:nvPicPr>
          <p:cNvPr id="192" name="Picture Placeholder 191" descr="Abacus with solid fill">
            <a:extLst>
              <a:ext uri="{FF2B5EF4-FFF2-40B4-BE49-F238E27FC236}">
                <a16:creationId xmlns:a16="http://schemas.microsoft.com/office/drawing/2014/main" id="{03D5E3D1-D423-EF5A-EE43-00CF1BD7FF63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82" r="5182"/>
          <a:stretch>
            <a:fillRect/>
          </a:stretch>
        </p:blipFill>
        <p:spPr>
          <a:xfrm>
            <a:off x="7614605" y="1021973"/>
            <a:ext cx="507778" cy="565882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96FE97-5E27-FC36-5E3A-511A31E6C78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550385" y="1021973"/>
            <a:ext cx="3637834" cy="634664"/>
          </a:xfrm>
        </p:spPr>
        <p:txBody>
          <a:bodyPr/>
          <a:lstStyle/>
          <a:p>
            <a:r>
              <a:rPr lang="en-IN" sz="2000" dirty="0">
                <a:latin typeface="Arial Black" panose="020B0A04020102020204" pitchFamily="34" charset="0"/>
              </a:rPr>
              <a:t>Government Scheme Knowledge Base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E5DE1C-24E7-3841-9376-89E91B4A476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589966" y="1680912"/>
            <a:ext cx="3994174" cy="1009658"/>
          </a:xfrm>
        </p:spPr>
        <p:txBody>
          <a:bodyPr/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Structured and verified scheme information collected from official government sources.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4" name="Picture Placeholder 193" descr="Bar graph with upward trend with solid fill">
            <a:extLst>
              <a:ext uri="{FF2B5EF4-FFF2-40B4-BE49-F238E27FC236}">
                <a16:creationId xmlns:a16="http://schemas.microsoft.com/office/drawing/2014/main" id="{FAB9DE8A-4935-A3E0-0122-F76CDEAC29D1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661" r="2661"/>
          <a:stretch>
            <a:fillRect/>
          </a:stretch>
        </p:blipFill>
        <p:spPr>
          <a:xfrm>
            <a:off x="3064826" y="2766283"/>
            <a:ext cx="536270" cy="565882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774673-50D8-2D6F-C339-6E4B0A126B0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756530" y="2852934"/>
            <a:ext cx="3858076" cy="420683"/>
          </a:xfrm>
        </p:spPr>
        <p:txBody>
          <a:bodyPr/>
          <a:lstStyle/>
          <a:p>
            <a:r>
              <a:rPr lang="en-IN" sz="2000" dirty="0">
                <a:latin typeface="Arial Black" panose="020B0A04020102020204" pitchFamily="34" charset="0"/>
              </a:rPr>
              <a:t>AI Chatbot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B5763E-8BC0-F6C3-3814-6649A828C00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677365" y="3346217"/>
            <a:ext cx="3937240" cy="1073130"/>
          </a:xfrm>
        </p:spPr>
        <p:txBody>
          <a:bodyPr/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Allows users to ask questions about schemes using natural language.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6" name="Picture Placeholder 195" descr="Link with solid fill">
            <a:extLst>
              <a:ext uri="{FF2B5EF4-FFF2-40B4-BE49-F238E27FC236}">
                <a16:creationId xmlns:a16="http://schemas.microsoft.com/office/drawing/2014/main" id="{B21D7164-3991-2960-0F80-CB302359CD8D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28" r="2528"/>
          <a:stretch>
            <a:fillRect/>
          </a:stretch>
        </p:blipFill>
        <p:spPr>
          <a:xfrm>
            <a:off x="3141095" y="4601905"/>
            <a:ext cx="536270" cy="565882"/>
          </a:xfr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E02E0C-26E8-8160-D35F-2398015C05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39316" y="4570016"/>
            <a:ext cx="3775289" cy="628979"/>
          </a:xfrm>
        </p:spPr>
        <p:txBody>
          <a:bodyPr/>
          <a:lstStyle/>
          <a:p>
            <a:r>
              <a:rPr lang="en-IN" sz="2000" dirty="0">
                <a:latin typeface="Arial Black" panose="020B0A04020102020204" pitchFamily="34" charset="0"/>
              </a:rPr>
              <a:t>Eligibility Recommendation Engine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78180D0-1AB6-8416-0EB1-10648E1A605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737175" y="5267867"/>
            <a:ext cx="3973945" cy="1635938"/>
          </a:xfrm>
        </p:spPr>
        <p:txBody>
          <a:bodyPr/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Matches user profiles against scheme eligibility conditions.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C503-BABC-632E-06CA-12C8474920E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B188D-CC15-53B6-94F2-DA6365088A49}"/>
              </a:ext>
            </a:extLst>
          </p:cNvPr>
          <p:cNvSpPr txBox="1"/>
          <p:nvPr/>
        </p:nvSpPr>
        <p:spPr>
          <a:xfrm>
            <a:off x="3091158" y="111437"/>
            <a:ext cx="90020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Government Scheme AI Adviser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provides a centralized platform combining:</a:t>
            </a:r>
          </a:p>
        </p:txBody>
      </p:sp>
      <p:pic>
        <p:nvPicPr>
          <p:cNvPr id="4" name="Picture Placeholder 191" descr="Abacus with solid fill">
            <a:extLst>
              <a:ext uri="{FF2B5EF4-FFF2-40B4-BE49-F238E27FC236}">
                <a16:creationId xmlns:a16="http://schemas.microsoft.com/office/drawing/2014/main" id="{2D247874-8F56-6426-3C7F-27991A9DCA5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82" r="5182"/>
          <a:stretch>
            <a:fillRect/>
          </a:stretch>
        </p:blipFill>
        <p:spPr>
          <a:xfrm>
            <a:off x="3096237" y="1021973"/>
            <a:ext cx="507778" cy="5658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A5C198-08FC-3782-B33B-A23D7467341C}"/>
              </a:ext>
            </a:extLst>
          </p:cNvPr>
          <p:cNvSpPr txBox="1"/>
          <p:nvPr/>
        </p:nvSpPr>
        <p:spPr>
          <a:xfrm>
            <a:off x="8151170" y="1104859"/>
            <a:ext cx="37603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Arial Black" panose="020B0A04020102020204" pitchFamily="34" charset="0"/>
              </a:rPr>
              <a:t>Smart Search &amp; Filtering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9BA68C-BBAC-E846-47E9-8063612E6DE2}"/>
              </a:ext>
            </a:extLst>
          </p:cNvPr>
          <p:cNvSpPr txBox="1"/>
          <p:nvPr/>
        </p:nvSpPr>
        <p:spPr>
          <a:xfrm>
            <a:off x="8178245" y="1504969"/>
            <a:ext cx="39149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Enables users to discover schemes using keywords and filters.</a:t>
            </a:r>
          </a:p>
        </p:txBody>
      </p:sp>
      <p:pic>
        <p:nvPicPr>
          <p:cNvPr id="17" name="Picture Placeholder 193" descr="Bar graph with upward trend with solid fill">
            <a:extLst>
              <a:ext uri="{FF2B5EF4-FFF2-40B4-BE49-F238E27FC236}">
                <a16:creationId xmlns:a16="http://schemas.microsoft.com/office/drawing/2014/main" id="{45588980-652F-909B-B4C8-491FF4B22DB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661" r="2661"/>
          <a:stretch>
            <a:fillRect/>
          </a:stretch>
        </p:blipFill>
        <p:spPr>
          <a:xfrm>
            <a:off x="7592175" y="2813573"/>
            <a:ext cx="536270" cy="5658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671DC07-E771-FE29-6539-4FA0CEB73751}"/>
              </a:ext>
            </a:extLst>
          </p:cNvPr>
          <p:cNvSpPr txBox="1"/>
          <p:nvPr/>
        </p:nvSpPr>
        <p:spPr>
          <a:xfrm>
            <a:off x="8206680" y="2770821"/>
            <a:ext cx="3985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Arial Black" panose="020B0A04020102020204" pitchFamily="34" charset="0"/>
              </a:rPr>
              <a:t>Daily Scheme Update System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4408E7-D3AC-467F-0840-B24B15BD85FC}"/>
              </a:ext>
            </a:extLst>
          </p:cNvPr>
          <p:cNvSpPr txBox="1"/>
          <p:nvPr/>
        </p:nvSpPr>
        <p:spPr>
          <a:xfrm>
            <a:off x="8206680" y="3478707"/>
            <a:ext cx="38865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Periodically checks official sources for relevant changes.</a:t>
            </a:r>
          </a:p>
        </p:txBody>
      </p:sp>
      <p:pic>
        <p:nvPicPr>
          <p:cNvPr id="24" name="Picture Placeholder 195" descr="Link with solid fill">
            <a:extLst>
              <a:ext uri="{FF2B5EF4-FFF2-40B4-BE49-F238E27FC236}">
                <a16:creationId xmlns:a16="http://schemas.microsoft.com/office/drawing/2014/main" id="{A1C075E6-DCD0-297C-F6FD-C6E47827E02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28" r="2528"/>
          <a:stretch>
            <a:fillRect/>
          </a:stretch>
        </p:blipFill>
        <p:spPr>
          <a:xfrm>
            <a:off x="7618481" y="4514882"/>
            <a:ext cx="536270" cy="56588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D410959-C8F0-769E-ECD9-3D743BD27B2B}"/>
              </a:ext>
            </a:extLst>
          </p:cNvPr>
          <p:cNvSpPr txBox="1"/>
          <p:nvPr/>
        </p:nvSpPr>
        <p:spPr>
          <a:xfrm>
            <a:off x="8206680" y="4533312"/>
            <a:ext cx="33096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Arial Black" panose="020B0A04020102020204" pitchFamily="34" charset="0"/>
              </a:rPr>
              <a:t>Admin Verification System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F9331F-7110-173A-A0FB-8519753B08C2}"/>
              </a:ext>
            </a:extLst>
          </p:cNvPr>
          <p:cNvSpPr txBox="1"/>
          <p:nvPr/>
        </p:nvSpPr>
        <p:spPr>
          <a:xfrm>
            <a:off x="8122383" y="5322020"/>
            <a:ext cx="39853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Allows administrators to review and approve detected changes before verified information is updated.</a:t>
            </a:r>
          </a:p>
        </p:txBody>
      </p:sp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55">
            <a:extLst>
              <a:ext uri="{FF2B5EF4-FFF2-40B4-BE49-F238E27FC236}">
                <a16:creationId xmlns:a16="http://schemas.microsoft.com/office/drawing/2014/main" id="{19576725-5FD5-0E5D-4FD3-2E35020D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371" y="2436097"/>
            <a:ext cx="3909993" cy="3629708"/>
          </a:xfrm>
        </p:spPr>
        <p:txBody>
          <a:bodyPr/>
          <a:lstStyle/>
          <a:p>
            <a:r>
              <a:rPr lang="en-IN" sz="4000" dirty="0">
                <a:latin typeface="Arial Black" panose="020B0A04020102020204" pitchFamily="34" charset="0"/>
              </a:rPr>
              <a:t>Core Modules</a:t>
            </a:r>
            <a:endParaRPr lang="en-US" sz="4000" dirty="0">
              <a:latin typeface="Arial Black" panose="020B0A04020102020204" pitchFamily="34" charset="0"/>
            </a:endParaRPr>
          </a:p>
        </p:txBody>
      </p:sp>
      <p:sp>
        <p:nvSpPr>
          <p:cNvPr id="112" name="Text Placeholder 111">
            <a:extLst>
              <a:ext uri="{FF2B5EF4-FFF2-40B4-BE49-F238E27FC236}">
                <a16:creationId xmlns:a16="http://schemas.microsoft.com/office/drawing/2014/main" id="{18AF0A56-DD67-89FC-BFA3-15B61F65CDD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502920" y="1024393"/>
            <a:ext cx="2720079" cy="472210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User 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Home / User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Scheme Discovery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Category Navigation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Smart Search &amp; Filters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Scheme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AI Scheme Adviser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Eligibility Checker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Scheme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Official Application Links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F816F-E557-EF17-FA3D-67F4F647CA3C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B0ADDD-2945-10A9-5CF9-74D1818BF53A}"/>
              </a:ext>
            </a:extLst>
          </p:cNvPr>
          <p:cNvSpPr txBox="1"/>
          <p:nvPr/>
        </p:nvSpPr>
        <p:spPr>
          <a:xfrm>
            <a:off x="3502921" y="375700"/>
            <a:ext cx="21930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Arial Black" panose="020B0A04020102020204" pitchFamily="34" charset="0"/>
              </a:rPr>
              <a:t>User Modules</a:t>
            </a:r>
          </a:p>
        </p:txBody>
      </p:sp>
      <p:sp>
        <p:nvSpPr>
          <p:cNvPr id="59" name="Text Placeholder 111">
            <a:extLst>
              <a:ext uri="{FF2B5EF4-FFF2-40B4-BE49-F238E27FC236}">
                <a16:creationId xmlns:a16="http://schemas.microsoft.com/office/drawing/2014/main" id="{A58A58A9-57D1-AFCD-D74E-EF221D76F86D}"/>
              </a:ext>
            </a:extLst>
          </p:cNvPr>
          <p:cNvSpPr txBox="1">
            <a:spLocks/>
          </p:cNvSpPr>
          <p:nvPr/>
        </p:nvSpPr>
        <p:spPr>
          <a:xfrm>
            <a:off x="6417570" y="1024393"/>
            <a:ext cx="2720079" cy="4722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Admin Authentication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Admin Dashboard</a:t>
            </a:r>
          </a:p>
          <a:p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Scheme Management</a:t>
            </a:r>
          </a:p>
          <a:p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Category Navigation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Category &amp; Department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Government Source Management</a:t>
            </a:r>
          </a:p>
          <a:p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Update Review &amp; Approval</a:t>
            </a:r>
          </a:p>
          <a:p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Scheme Version History</a:t>
            </a:r>
          </a:p>
          <a:p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User Management</a:t>
            </a:r>
          </a:p>
          <a:p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Search &amp; Chat Analytics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87F9D96-66EE-6F05-48AD-4512BC5AD66A}"/>
              </a:ext>
            </a:extLst>
          </p:cNvPr>
          <p:cNvSpPr txBox="1"/>
          <p:nvPr/>
        </p:nvSpPr>
        <p:spPr>
          <a:xfrm>
            <a:off x="6417571" y="375700"/>
            <a:ext cx="21930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Admin Modules</a:t>
            </a:r>
            <a:endParaRPr lang="en-IN" sz="2000" b="1" dirty="0">
              <a:latin typeface="Arial Black" panose="020B0A04020102020204" pitchFamily="34" charset="0"/>
            </a:endParaRPr>
          </a:p>
        </p:txBody>
      </p:sp>
      <p:sp>
        <p:nvSpPr>
          <p:cNvPr id="68" name="Text Placeholder 111">
            <a:extLst>
              <a:ext uri="{FF2B5EF4-FFF2-40B4-BE49-F238E27FC236}">
                <a16:creationId xmlns:a16="http://schemas.microsoft.com/office/drawing/2014/main" id="{F01718D0-FFDF-339E-19F8-EEB8DC7EDC95}"/>
              </a:ext>
            </a:extLst>
          </p:cNvPr>
          <p:cNvSpPr txBox="1">
            <a:spLocks/>
          </p:cNvSpPr>
          <p:nvPr/>
        </p:nvSpPr>
        <p:spPr>
          <a:xfrm>
            <a:off x="8932682" y="1024393"/>
            <a:ext cx="2720079" cy="4722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RAG-based AI Chatbot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Eligibility Rule Engine</a:t>
            </a:r>
          </a:p>
          <a:p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Recommendation &amp; Ranking Engine</a:t>
            </a:r>
          </a:p>
          <a:p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Semantic Search</a:t>
            </a:r>
          </a:p>
          <a:p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Ingestion Pipeline</a:t>
            </a:r>
          </a:p>
          <a:p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Government Source Management</a:t>
            </a:r>
          </a:p>
          <a:p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Background Update Scheduler</a:t>
            </a:r>
          </a:p>
          <a:p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Change Detection System</a:t>
            </a:r>
          </a:p>
          <a:p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467E418-4340-2101-AE49-6F7B118765B5}"/>
              </a:ext>
            </a:extLst>
          </p:cNvPr>
          <p:cNvSpPr txBox="1"/>
          <p:nvPr/>
        </p:nvSpPr>
        <p:spPr>
          <a:xfrm>
            <a:off x="8932683" y="375700"/>
            <a:ext cx="27200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AI / Backend Modules</a:t>
            </a:r>
            <a:endParaRPr lang="en-IN" sz="20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109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4D761329-3BEF-0173-1328-A4DB26572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3050" y="88900"/>
            <a:ext cx="762000" cy="400050"/>
          </a:xfrm>
        </p:spPr>
        <p:txBody>
          <a:bodyPr/>
          <a:lstStyle/>
          <a:p>
            <a:pPr algn="ctr"/>
            <a:r>
              <a:rPr lang="en-IN" sz="1400" b="0" dirty="0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endParaRPr lang="en-US" sz="14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C101F03-8617-09D4-619B-F38E2F0A4F1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sz="2000" dirty="0"/>
              <a:t>USER WORK</a:t>
            </a:r>
          </a:p>
          <a:p>
            <a:r>
              <a:rPr lang="en-US" sz="2000" dirty="0"/>
              <a:t>FLOW</a:t>
            </a:r>
          </a:p>
        </p:txBody>
      </p:sp>
      <p:pic>
        <p:nvPicPr>
          <p:cNvPr id="48" name="Picture placeholder 19" descr="Layout of website design sketches on white paper">
            <a:extLst>
              <a:ext uri="{FF2B5EF4-FFF2-40B4-BE49-F238E27FC236}">
                <a16:creationId xmlns:a16="http://schemas.microsoft.com/office/drawing/2014/main" id="{6D25AB81-B10A-BD11-E8FE-ECF8CB1B12F0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1710" y="449632"/>
            <a:ext cx="5045662" cy="5783096"/>
          </a:xfrm>
          <a:blipFill>
            <a:blip r:embed="rId4"/>
            <a:stretch>
              <a:fillRect/>
            </a:stretch>
          </a:blipFill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82809BF-D95A-C014-CACE-26506C774074}"/>
              </a:ext>
            </a:extLst>
          </p:cNvPr>
          <p:cNvCxnSpPr>
            <a:cxnSpLocks/>
            <a:stCxn id="46" idx="2"/>
            <a:endCxn id="9" idx="0"/>
          </p:cNvCxnSpPr>
          <p:nvPr/>
        </p:nvCxnSpPr>
        <p:spPr>
          <a:xfrm>
            <a:off x="8274050" y="488950"/>
            <a:ext cx="0" cy="261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85C9E6-67E2-857D-75FD-76F0CCD49703}"/>
              </a:ext>
            </a:extLst>
          </p:cNvPr>
          <p:cNvSpPr txBox="1"/>
          <p:nvPr/>
        </p:nvSpPr>
        <p:spPr>
          <a:xfrm>
            <a:off x="7245691" y="750926"/>
            <a:ext cx="2056718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Login / Access Platform</a:t>
            </a:r>
            <a:endParaRPr lang="en-IN" sz="1400" dirty="0">
              <a:solidFill>
                <a:prstClr val="white"/>
              </a:solidFill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F2BCBE-82E3-424F-E200-E33F296A331F}"/>
              </a:ext>
            </a:extLst>
          </p:cNvPr>
          <p:cNvSpPr txBox="1"/>
          <p:nvPr/>
        </p:nvSpPr>
        <p:spPr>
          <a:xfrm>
            <a:off x="6934200" y="1529834"/>
            <a:ext cx="26797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Choose Interaction Method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BBD3DB-3786-4835-6212-1E1805E15446}"/>
              </a:ext>
            </a:extLst>
          </p:cNvPr>
          <p:cNvSpPr txBox="1"/>
          <p:nvPr/>
        </p:nvSpPr>
        <p:spPr>
          <a:xfrm>
            <a:off x="8655050" y="1959689"/>
            <a:ext cx="17509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Browse Categories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5CC9E3-87E5-D230-B33E-9AEA6FDEC3CE}"/>
              </a:ext>
            </a:extLst>
          </p:cNvPr>
          <p:cNvSpPr txBox="1"/>
          <p:nvPr/>
        </p:nvSpPr>
        <p:spPr>
          <a:xfrm>
            <a:off x="8655050" y="2389544"/>
            <a:ext cx="13982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Smart Search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F78E96-6C2D-53BA-8888-A7C801931598}"/>
              </a:ext>
            </a:extLst>
          </p:cNvPr>
          <p:cNvSpPr txBox="1"/>
          <p:nvPr/>
        </p:nvSpPr>
        <p:spPr>
          <a:xfrm>
            <a:off x="8655050" y="2824022"/>
            <a:ext cx="12291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AI Chatbot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B645A5-60A8-8BEF-CF38-EB22BDEA3688}"/>
              </a:ext>
            </a:extLst>
          </p:cNvPr>
          <p:cNvSpPr txBox="1"/>
          <p:nvPr/>
        </p:nvSpPr>
        <p:spPr>
          <a:xfrm>
            <a:off x="8655050" y="3258500"/>
            <a:ext cx="1651552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Eligibility Checker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9873B82-8ABF-A62B-D372-DF546007598B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274050" y="1837611"/>
            <a:ext cx="0" cy="15747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4283A2F-5AE1-446F-65EC-460C1B214A88}"/>
              </a:ext>
            </a:extLst>
          </p:cNvPr>
          <p:cNvCxnSpPr>
            <a:cxnSpLocks/>
          </p:cNvCxnSpPr>
          <p:nvPr/>
        </p:nvCxnSpPr>
        <p:spPr>
          <a:xfrm>
            <a:off x="8274049" y="1058703"/>
            <a:ext cx="0" cy="471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BD4C649-85B9-C93A-7700-A86B5C491988}"/>
              </a:ext>
            </a:extLst>
          </p:cNvPr>
          <p:cNvCxnSpPr>
            <a:endCxn id="22" idx="1"/>
          </p:cNvCxnSpPr>
          <p:nvPr/>
        </p:nvCxnSpPr>
        <p:spPr>
          <a:xfrm>
            <a:off x="8274050" y="3412388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F5F34F9-2F33-C37D-8062-BA622E0F069C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8274050" y="2977911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22796CD-3239-63F5-C272-1FCB1DA52DE8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8274050" y="2543433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2A2547D-6646-C3DB-3005-778A7FA46B6B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8274050" y="2113577"/>
            <a:ext cx="3810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382E2108-1B64-C958-02BA-D587D931BBC5}"/>
              </a:ext>
            </a:extLst>
          </p:cNvPr>
          <p:cNvSpPr txBox="1"/>
          <p:nvPr/>
        </p:nvSpPr>
        <p:spPr>
          <a:xfrm>
            <a:off x="6966461" y="3688354"/>
            <a:ext cx="26151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Relevant Schemes Identified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AC666DA-BF2D-A6F5-8DAD-D03524C3475C}"/>
              </a:ext>
            </a:extLst>
          </p:cNvPr>
          <p:cNvCxnSpPr>
            <a:endCxn id="51" idx="0"/>
          </p:cNvCxnSpPr>
          <p:nvPr/>
        </p:nvCxnSpPr>
        <p:spPr>
          <a:xfrm>
            <a:off x="8274050" y="3429000"/>
            <a:ext cx="0" cy="259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FDE971C-8F01-8BDC-67CF-4D73E0D21C0E}"/>
              </a:ext>
            </a:extLst>
          </p:cNvPr>
          <p:cNvSpPr txBox="1"/>
          <p:nvPr/>
        </p:nvSpPr>
        <p:spPr>
          <a:xfrm>
            <a:off x="7521573" y="4198245"/>
            <a:ext cx="15049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Scheme Details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B65AA5-015B-D0A2-7448-728BAB5048F1}"/>
              </a:ext>
            </a:extLst>
          </p:cNvPr>
          <p:cNvSpPr txBox="1"/>
          <p:nvPr/>
        </p:nvSpPr>
        <p:spPr>
          <a:xfrm>
            <a:off x="8936659" y="4361374"/>
            <a:ext cx="10866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Eligibility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29A82F7-FB9C-A3D9-8C99-FD3C41C0A00E}"/>
              </a:ext>
            </a:extLst>
          </p:cNvPr>
          <p:cNvSpPr txBox="1"/>
          <p:nvPr/>
        </p:nvSpPr>
        <p:spPr>
          <a:xfrm>
            <a:off x="8937763" y="4738594"/>
            <a:ext cx="10535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Benefits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E5CDCB-2B8C-0AFD-5BCA-B3432E177CA4}"/>
              </a:ext>
            </a:extLst>
          </p:cNvPr>
          <p:cNvSpPr txBox="1"/>
          <p:nvPr/>
        </p:nvSpPr>
        <p:spPr>
          <a:xfrm>
            <a:off x="8936659" y="5190060"/>
            <a:ext cx="23125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Required Documents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17547F4-DE7D-5046-AC64-89987DE97EB5}"/>
              </a:ext>
            </a:extLst>
          </p:cNvPr>
          <p:cNvSpPr txBox="1"/>
          <p:nvPr/>
        </p:nvSpPr>
        <p:spPr>
          <a:xfrm>
            <a:off x="8936659" y="5558485"/>
            <a:ext cx="21816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Application Process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924936A-EA30-F0F7-6D86-45CB0EC8AB08}"/>
              </a:ext>
            </a:extLst>
          </p:cNvPr>
          <p:cNvSpPr txBox="1"/>
          <p:nvPr/>
        </p:nvSpPr>
        <p:spPr>
          <a:xfrm>
            <a:off x="8931414" y="5926910"/>
            <a:ext cx="35744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Deadline / Important Information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B63CE03-4749-5F03-66D6-6CFFD44C5B75}"/>
              </a:ext>
            </a:extLst>
          </p:cNvPr>
          <p:cNvSpPr txBox="1"/>
          <p:nvPr/>
        </p:nvSpPr>
        <p:spPr>
          <a:xfrm>
            <a:off x="6788977" y="6368614"/>
            <a:ext cx="29701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Why This Scheme Matches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76DBE85-8C05-37E9-E10E-824DBD2AE061}"/>
              </a:ext>
            </a:extLst>
          </p:cNvPr>
          <p:cNvSpPr txBox="1"/>
          <p:nvPr/>
        </p:nvSpPr>
        <p:spPr>
          <a:xfrm>
            <a:off x="3591339" y="6368613"/>
            <a:ext cx="26154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Official Government Source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3B5BF7D-8D06-D21C-C7AD-96BD5AD60501}"/>
              </a:ext>
            </a:extLst>
          </p:cNvPr>
          <p:cNvSpPr txBox="1"/>
          <p:nvPr/>
        </p:nvSpPr>
        <p:spPr>
          <a:xfrm>
            <a:off x="221696" y="6368612"/>
            <a:ext cx="24221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Official Application Portal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C0441F8-F562-305F-980A-4536A9717E2A}"/>
              </a:ext>
            </a:extLst>
          </p:cNvPr>
          <p:cNvCxnSpPr>
            <a:cxnSpLocks/>
            <a:stCxn id="51" idx="2"/>
            <a:endCxn id="55" idx="0"/>
          </p:cNvCxnSpPr>
          <p:nvPr/>
        </p:nvCxnSpPr>
        <p:spPr>
          <a:xfrm flipH="1">
            <a:off x="8274049" y="3996131"/>
            <a:ext cx="1" cy="202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79F6060-D2D9-B956-48CF-CC1BF034F864}"/>
              </a:ext>
            </a:extLst>
          </p:cNvPr>
          <p:cNvCxnSpPr>
            <a:cxnSpLocks/>
            <a:stCxn id="55" idx="2"/>
          </p:cNvCxnSpPr>
          <p:nvPr/>
        </p:nvCxnSpPr>
        <p:spPr>
          <a:xfrm flipH="1">
            <a:off x="8274048" y="4506022"/>
            <a:ext cx="1" cy="1801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825186F-6E96-A319-BE1F-B6A825DA9A44}"/>
              </a:ext>
            </a:extLst>
          </p:cNvPr>
          <p:cNvCxnSpPr>
            <a:cxnSpLocks/>
            <a:stCxn id="55" idx="2"/>
            <a:endCxn id="57" idx="1"/>
          </p:cNvCxnSpPr>
          <p:nvPr/>
        </p:nvCxnSpPr>
        <p:spPr>
          <a:xfrm>
            <a:off x="8274049" y="4506022"/>
            <a:ext cx="662610" cy="9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D5A624EA-8BE3-CC67-F015-C1E714C51AB3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8270874" y="4892483"/>
            <a:ext cx="6668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D959E924-EEFD-E1F0-D63E-EDDDA86B41C0}"/>
              </a:ext>
            </a:extLst>
          </p:cNvPr>
          <p:cNvCxnSpPr>
            <a:cxnSpLocks/>
            <a:endCxn id="61" idx="1"/>
          </p:cNvCxnSpPr>
          <p:nvPr/>
        </p:nvCxnSpPr>
        <p:spPr>
          <a:xfrm>
            <a:off x="8270874" y="5343948"/>
            <a:ext cx="66578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92E4374-31AE-7DD4-8DCD-9BACD06EB699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8270874" y="5712373"/>
            <a:ext cx="66578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F7E7612-00F1-6ED5-9700-1D7D9B32C6DE}"/>
              </a:ext>
            </a:extLst>
          </p:cNvPr>
          <p:cNvCxnSpPr>
            <a:cxnSpLocks/>
            <a:endCxn id="65" idx="1"/>
          </p:cNvCxnSpPr>
          <p:nvPr/>
        </p:nvCxnSpPr>
        <p:spPr>
          <a:xfrm>
            <a:off x="8270874" y="6080798"/>
            <a:ext cx="6605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9485CF5-3131-8CFC-9B48-41B1147B67E3}"/>
              </a:ext>
            </a:extLst>
          </p:cNvPr>
          <p:cNvCxnSpPr>
            <a:cxnSpLocks/>
            <a:stCxn id="67" idx="1"/>
          </p:cNvCxnSpPr>
          <p:nvPr/>
        </p:nvCxnSpPr>
        <p:spPr>
          <a:xfrm flipH="1" flipV="1">
            <a:off x="6096000" y="6522501"/>
            <a:ext cx="692977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81BA6C9-B601-A501-FBCA-D87198C58731}"/>
              </a:ext>
            </a:extLst>
          </p:cNvPr>
          <p:cNvCxnSpPr>
            <a:cxnSpLocks/>
            <a:stCxn id="69" idx="1"/>
          </p:cNvCxnSpPr>
          <p:nvPr/>
        </p:nvCxnSpPr>
        <p:spPr>
          <a:xfrm flipH="1">
            <a:off x="2643809" y="6522502"/>
            <a:ext cx="9475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079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>
            <a:extLst>
              <a:ext uri="{FF2B5EF4-FFF2-40B4-BE49-F238E27FC236}">
                <a16:creationId xmlns:a16="http://schemas.microsoft.com/office/drawing/2014/main" id="{478CB64C-71AF-6B72-8069-000DD250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FA2F9A05-8E79-46FF-1ABA-927EF2D69BC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IN" sz="1600" dirty="0">
                <a:latin typeface="Arial Black" panose="020B0A04020102020204" pitchFamily="34" charset="0"/>
                <a:cs typeface="Arial" panose="020B0604020202020204" pitchFamily="34" charset="0"/>
              </a:rPr>
              <a:t>Frontend</a:t>
            </a:r>
            <a:endParaRPr lang="en-US" sz="16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0532F467-8DBE-D445-0CF7-D5D242DAD66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lvl="0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React.js + ViteReact.js + Vite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48BF8F22-E288-84B0-03E9-82D678051D4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en-IN" sz="1600" dirty="0">
                <a:latin typeface="Arial Black" panose="020B0A04020102020204" pitchFamily="34" charset="0"/>
                <a:cs typeface="Arial" panose="020B0604020202020204" pitchFamily="34" charset="0"/>
              </a:rPr>
              <a:t>UI Styling</a:t>
            </a:r>
            <a:endParaRPr lang="en-US" sz="16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ACB9342-C47E-6729-46BE-F10DBB78182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Tailwind CSS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D0C47E92-8875-E555-5480-8A9BAEE853A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en-IN" sz="1600" dirty="0">
                <a:latin typeface="Arial Black" panose="020B0A04020102020204" pitchFamily="34" charset="0"/>
                <a:cs typeface="Arial" panose="020B0604020202020204" pitchFamily="34" charset="0"/>
              </a:rPr>
              <a:t>Backend</a:t>
            </a:r>
            <a:endParaRPr lang="en-US" sz="16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DDCD388C-8374-D810-DCE5-554B7E05F55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pPr lvl="0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Python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B87AFF1A-EF07-5FBF-C582-29AE302A47D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en-IN" sz="1600" dirty="0">
                <a:latin typeface="Arial Black" panose="020B0A04020102020204" pitchFamily="34" charset="0"/>
                <a:cs typeface="Arial" panose="020B0604020202020204" pitchFamily="34" charset="0"/>
              </a:rPr>
              <a:t>Database</a:t>
            </a:r>
            <a:endParaRPr lang="en-US" sz="16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E62055F1-67DB-9D6D-ABE2-20C3B2514A4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pPr lvl="0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9303DF4A-6DF5-9082-4ABE-2B0D5433359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n-IN" sz="1600" dirty="0">
                <a:latin typeface="Arial Black" panose="020B0A04020102020204" pitchFamily="34" charset="0"/>
                <a:cs typeface="Arial" panose="020B0604020202020204" pitchFamily="34" charset="0"/>
              </a:rPr>
              <a:t>ORM</a:t>
            </a:r>
            <a:endParaRPr lang="en-US" sz="16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0930742F-3693-100E-944F-A04AB532014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pPr lvl="0"/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SQLAlchemy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5177ED-2E57-8FF5-AFD8-AA79A7B24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5392" y="2066625"/>
            <a:ext cx="10515600" cy="859536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C7183-3EBB-B8D1-A66D-964D3C3A7DA8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24021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4C173-C423-F453-C160-90EBEEAFF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>
            <a:extLst>
              <a:ext uri="{FF2B5EF4-FFF2-40B4-BE49-F238E27FC236}">
                <a16:creationId xmlns:a16="http://schemas.microsoft.com/office/drawing/2014/main" id="{D8A89404-42BA-5E87-91A9-A2B66C71C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DCB94BA-AE2B-CE0B-F471-E585C0AB3C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IN" sz="1600" dirty="0">
                <a:latin typeface="Arial Black" panose="020B0A04020102020204" pitchFamily="34" charset="0"/>
              </a:rPr>
              <a:t>Database Migration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C8C16752-AA1D-D2E1-5A60-006FB4EA1C8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lvl="0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Alembic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846AF249-0E82-06A2-38D9-B12E5F43C55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en-IN" sz="1600" dirty="0">
                <a:latin typeface="Arial Black" panose="020B0A04020102020204" pitchFamily="34" charset="0"/>
              </a:rPr>
              <a:t>Authentication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37A9B5CB-96AB-FF3D-EBBC-AA9AD423BB9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JWT + Role-Based Access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41800336-12E4-E2CF-2394-5C5B513E73D4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en-IN" sz="1600" dirty="0">
                <a:latin typeface="Arial Black" panose="020B0A04020102020204" pitchFamily="34" charset="0"/>
              </a:rPr>
              <a:t>AI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3F52B71F-D61C-65BA-CF22-74D11DC3C683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pPr lvl="0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Large Language Model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1E0E20D3-9BEA-BB1E-1BD5-6F94A50BD7A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en-IN" sz="1600" dirty="0">
                <a:latin typeface="Arial Black" panose="020B0A04020102020204" pitchFamily="34" charset="0"/>
              </a:rPr>
              <a:t>AI Architecture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510D67A3-9636-52CC-B328-805E2E79292B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pPr lvl="0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RAG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E12F031D-B118-7C23-EE6B-1591D86A3B7E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n-IN" sz="1600" dirty="0">
                <a:latin typeface="Arial Black" panose="020B0A04020102020204" pitchFamily="34" charset="0"/>
              </a:rPr>
              <a:t>Vector Search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C19810BA-4CE5-8A8B-C34E-EC8D21674307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pPr lvl="0"/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pgvector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8ED1D8-7E40-BA07-5D5E-16C1C93A9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5392" y="2066625"/>
            <a:ext cx="10515600" cy="859536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540BF9-98F9-DC62-8A96-1E47A63A7AAE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519311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568C5-8FDC-5914-D664-1BC97A353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>
            <a:extLst>
              <a:ext uri="{FF2B5EF4-FFF2-40B4-BE49-F238E27FC236}">
                <a16:creationId xmlns:a16="http://schemas.microsoft.com/office/drawing/2014/main" id="{89094BF0-4919-00B4-AB0D-467AC1EFD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46EEEC57-D1CC-E5BB-CD35-7012ECEAF02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IN" sz="1600" dirty="0">
                <a:latin typeface="Arial Black" panose="020B0A04020102020204" pitchFamily="34" charset="0"/>
              </a:rPr>
              <a:t>Eligibility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77CB8134-35E6-512F-6942-DD32922B3E7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57108" y="2929823"/>
            <a:ext cx="1865376" cy="2464293"/>
          </a:xfrm>
        </p:spPr>
        <p:txBody>
          <a:bodyPr/>
          <a:lstStyle/>
          <a:p>
            <a:pPr lvl="0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Rule Engine + Ranking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BCC1D677-6DCA-78B3-8325-96BA5E58E2B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en-IN" sz="1600" dirty="0">
                <a:latin typeface="Arial Black" panose="020B0A04020102020204" pitchFamily="34" charset="0"/>
              </a:rPr>
              <a:t>Background Jobs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2D94998-72A0-EE24-E2CE-09014FD34C4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019211" y="2929823"/>
            <a:ext cx="1867186" cy="2471878"/>
          </a:xfrm>
        </p:spPr>
        <p:txBody>
          <a:bodyPr/>
          <a:lstStyle/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APScheduler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/ Background Worker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4DB07AD7-F290-604D-CB30-66C55FBA694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en-IN" sz="1600" dirty="0">
                <a:latin typeface="Arial Black" panose="020B0A04020102020204" pitchFamily="34" charset="0"/>
              </a:rPr>
              <a:t>Data Processing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6F56FD37-84E7-102C-EBFE-4A5402AB972B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183124" y="2929823"/>
            <a:ext cx="1865376" cy="2464293"/>
          </a:xfrm>
        </p:spPr>
        <p:txBody>
          <a:bodyPr/>
          <a:lstStyle/>
          <a:p>
            <a:pPr lvl="0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2B0D9885-A8D7-ADF0-0D1B-2A9723D30A9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en-IN" sz="1600" dirty="0">
                <a:latin typeface="Arial Black" panose="020B0A04020102020204" pitchFamily="34" charset="0"/>
              </a:rPr>
              <a:t>API Validation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8EF2797D-75EE-A2CD-2BAB-A228F548314E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pPr lvl="0"/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Pydantic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3B247A52-841B-1A9C-4B77-61D39CB75EA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en-IN" sz="1600" dirty="0">
                <a:latin typeface="Arial Black" panose="020B0A04020102020204" pitchFamily="34" charset="0"/>
              </a:rPr>
              <a:t>Version Control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7684FF10-BC34-281F-E222-96ED27CDDC0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pPr lvl="0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Git + GitHub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A2BE84-D3EC-8D21-DE52-5F9D01627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5392" y="2066625"/>
            <a:ext cx="10515600" cy="859536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08F76F-0EA5-D44E-7FBA-75BB54DE2437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39546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85">
            <a:extLst>
              <a:ext uri="{FF2B5EF4-FFF2-40B4-BE49-F238E27FC236}">
                <a16:creationId xmlns:a16="http://schemas.microsoft.com/office/drawing/2014/main" id="{1E3F7726-AC85-55B8-BDED-51E7BA85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29" name="Text Placeholder">
            <a:extLst>
              <a:ext uri="{FF2B5EF4-FFF2-40B4-BE49-F238E27FC236}">
                <a16:creationId xmlns:a16="http://schemas.microsoft.com/office/drawing/2014/main" id="{0490F6D4-84D0-42DF-A807-E56706B577D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71060" y="3869031"/>
            <a:ext cx="1877575" cy="506399"/>
          </a:xfrm>
        </p:spPr>
        <p:txBody>
          <a:bodyPr/>
          <a:lstStyle/>
          <a:p>
            <a:r>
              <a:rPr lang="en-IN" sz="1600" dirty="0">
                <a:latin typeface="Arial Black" panose="020B0A04020102020204" pitchFamily="34" charset="0"/>
              </a:rPr>
              <a:t>Eligibility Engine</a:t>
            </a:r>
            <a:endParaRPr lang="zh-CN" altLang="en-US" sz="1600" dirty="0">
              <a:latin typeface="Arial Black" panose="020B0A04020102020204" pitchFamily="34" charset="0"/>
            </a:endParaRPr>
          </a:p>
        </p:txBody>
      </p:sp>
      <p:sp>
        <p:nvSpPr>
          <p:cNvPr id="30" name="Text Placeholder">
            <a:extLst>
              <a:ext uri="{FF2B5EF4-FFF2-40B4-BE49-F238E27FC236}">
                <a16:creationId xmlns:a16="http://schemas.microsoft.com/office/drawing/2014/main" id="{99E3B6AA-5679-428D-B466-0173CBC5572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1917" y="4688267"/>
            <a:ext cx="1691687" cy="811178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Questionnaire, eligibility rules, recommendation and explainability.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Placeholder">
            <a:extLst>
              <a:ext uri="{FF2B5EF4-FFF2-40B4-BE49-F238E27FC236}">
                <a16:creationId xmlns:a16="http://schemas.microsoft.com/office/drawing/2014/main" id="{3A30B02E-FBE1-41C5-AF6E-E1013275E84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2937604" y="3869031"/>
            <a:ext cx="1877575" cy="506399"/>
          </a:xfrm>
        </p:spPr>
        <p:txBody>
          <a:bodyPr/>
          <a:lstStyle/>
          <a:p>
            <a:r>
              <a:rPr lang="en-IN" sz="1600" dirty="0">
                <a:latin typeface="Arial Black" panose="020B0A04020102020204" pitchFamily="34" charset="0"/>
              </a:rPr>
              <a:t>AI Adviser</a:t>
            </a:r>
            <a:endParaRPr lang="zh-CN" altLang="en-US" sz="1600" dirty="0">
              <a:latin typeface="Arial Black" panose="020B0A04020102020204" pitchFamily="34" charset="0"/>
            </a:endParaRPr>
          </a:p>
        </p:txBody>
      </p:sp>
      <p:sp>
        <p:nvSpPr>
          <p:cNvPr id="38" name="Text Placeholder">
            <a:extLst>
              <a:ext uri="{FF2B5EF4-FFF2-40B4-BE49-F238E27FC236}">
                <a16:creationId xmlns:a16="http://schemas.microsoft.com/office/drawing/2014/main" id="{6BEF3457-28AE-41BA-B285-C77561919C1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003905" y="4688267"/>
            <a:ext cx="1691687" cy="811178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Embeddings, vector retrieval, RAG and grounded chatbot.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Placeholder">
            <a:extLst>
              <a:ext uri="{FF2B5EF4-FFF2-40B4-BE49-F238E27FC236}">
                <a16:creationId xmlns:a16="http://schemas.microsoft.com/office/drawing/2014/main" id="{1B558BFC-AA9F-4991-A6BB-D56BEC07C16E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106758" y="3869031"/>
            <a:ext cx="1877575" cy="506399"/>
          </a:xfrm>
        </p:spPr>
        <p:txBody>
          <a:bodyPr/>
          <a:lstStyle/>
          <a:p>
            <a:r>
              <a:rPr lang="en-IN" sz="1600" dirty="0">
                <a:latin typeface="Arial Black" panose="020B0A04020102020204" pitchFamily="34" charset="0"/>
              </a:rPr>
              <a:t>Update System</a:t>
            </a:r>
            <a:endParaRPr lang="zh-CN" altLang="en-US" sz="1600" dirty="0">
              <a:latin typeface="Arial Black" panose="020B0A04020102020204" pitchFamily="34" charset="0"/>
            </a:endParaRPr>
          </a:p>
        </p:txBody>
      </p:sp>
      <p:sp>
        <p:nvSpPr>
          <p:cNvPr id="40" name="Text Placeholder">
            <a:extLst>
              <a:ext uri="{FF2B5EF4-FFF2-40B4-BE49-F238E27FC236}">
                <a16:creationId xmlns:a16="http://schemas.microsoft.com/office/drawing/2014/main" id="{17095E6E-F279-4342-B53E-E53B820336B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139618" y="4688267"/>
            <a:ext cx="1691687" cy="811178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Scheduler, source checking, change detection, admin approval and versioning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Placeholder">
            <a:extLst>
              <a:ext uri="{FF2B5EF4-FFF2-40B4-BE49-F238E27FC236}">
                <a16:creationId xmlns:a16="http://schemas.microsoft.com/office/drawing/2014/main" id="{DBA8686B-D3EF-40DF-939C-F875885DD598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275912" y="3869031"/>
            <a:ext cx="1877575" cy="506399"/>
          </a:xfrm>
        </p:spPr>
        <p:txBody>
          <a:bodyPr/>
          <a:lstStyle/>
          <a:p>
            <a:r>
              <a:rPr lang="en-IN" sz="1600" dirty="0">
                <a:latin typeface="Arial Black" panose="020B0A04020102020204" pitchFamily="34" charset="0"/>
              </a:rPr>
              <a:t>Testing &amp; Security</a:t>
            </a:r>
            <a:endParaRPr lang="zh-CN" altLang="en-US" sz="1600" dirty="0">
              <a:latin typeface="Arial Black" panose="020B0A04020102020204" pitchFamily="34" charset="0"/>
            </a:endParaRPr>
          </a:p>
        </p:txBody>
      </p:sp>
      <p:sp>
        <p:nvSpPr>
          <p:cNvPr id="42" name="Text Placeholder">
            <a:extLst>
              <a:ext uri="{FF2B5EF4-FFF2-40B4-BE49-F238E27FC236}">
                <a16:creationId xmlns:a16="http://schemas.microsoft.com/office/drawing/2014/main" id="{6BF979FF-A4F0-4625-889A-AB985F98B2D4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7308772" y="4688267"/>
            <a:ext cx="1691687" cy="811178"/>
          </a:xfrm>
        </p:spPr>
        <p:txBody>
          <a:bodyPr/>
          <a:lstStyle/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Functional, API, AI reliability, authorization and integration testing.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Placeholder">
            <a:extLst>
              <a:ext uri="{FF2B5EF4-FFF2-40B4-BE49-F238E27FC236}">
                <a16:creationId xmlns:a16="http://schemas.microsoft.com/office/drawing/2014/main" id="{759A333C-6D37-427A-BE2A-4C2660134A5A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9385368" y="3869031"/>
            <a:ext cx="1877575" cy="506399"/>
          </a:xfrm>
        </p:spPr>
        <p:txBody>
          <a:bodyPr/>
          <a:lstStyle/>
          <a:p>
            <a:r>
              <a:rPr lang="en-IN" sz="1600" dirty="0">
                <a:latin typeface="Arial Black" panose="020B0A04020102020204" pitchFamily="34" charset="0"/>
              </a:rPr>
              <a:t>Deployment &amp; Documentation</a:t>
            </a:r>
            <a:endParaRPr lang="zh-CN" altLang="en-US" sz="1600" dirty="0">
              <a:latin typeface="Arial Black" panose="020B0A04020102020204" pitchFamily="34" charset="0"/>
            </a:endParaRPr>
          </a:p>
        </p:txBody>
      </p:sp>
      <p:sp>
        <p:nvSpPr>
          <p:cNvPr id="50" name="Text Placeholder">
            <a:extLst>
              <a:ext uri="{FF2B5EF4-FFF2-40B4-BE49-F238E27FC236}">
                <a16:creationId xmlns:a16="http://schemas.microsoft.com/office/drawing/2014/main" id="{4E9BE8F8-2FF1-43CB-B1AA-4F07E411D171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9477926" y="4688267"/>
            <a:ext cx="1691687" cy="811178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Production deployment, final testing, technical documentation and project report.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DA9C9-8185-D0AB-3C76-BC1CABABA354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D9DED-0D81-19D6-DF40-E6B4B5BFEF9E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11</a:t>
            </a:fld>
            <a:endParaRPr lang="en-US" altLang="zh-CN" dirty="0"/>
          </a:p>
        </p:txBody>
      </p:sp>
      <p:sp>
        <p:nvSpPr>
          <p:cNvPr id="20" name="Text Placeholder">
            <a:extLst>
              <a:ext uri="{FF2B5EF4-FFF2-40B4-BE49-F238E27FC236}">
                <a16:creationId xmlns:a16="http://schemas.microsoft.com/office/drawing/2014/main" id="{B139B0FC-A33F-5AA6-64E9-81BB3D00D693}"/>
              </a:ext>
            </a:extLst>
          </p:cNvPr>
          <p:cNvSpPr txBox="1">
            <a:spLocks/>
          </p:cNvSpPr>
          <p:nvPr/>
        </p:nvSpPr>
        <p:spPr>
          <a:xfrm>
            <a:off x="778502" y="1578568"/>
            <a:ext cx="1877575" cy="5911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latin typeface="Arial Black" panose="020B0A04020102020204" pitchFamily="34" charset="0"/>
              </a:rPr>
              <a:t>Planning &amp; Design</a:t>
            </a:r>
            <a:endParaRPr lang="zh-CN" altLang="en-US" sz="1600" dirty="0">
              <a:latin typeface="Arial Black" panose="020B0A04020102020204" pitchFamily="34" charset="0"/>
            </a:endParaRP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5E79A4C2-7BDF-882B-9AB1-F17790D2DE4F}"/>
              </a:ext>
            </a:extLst>
          </p:cNvPr>
          <p:cNvSpPr txBox="1">
            <a:spLocks/>
          </p:cNvSpPr>
          <p:nvPr/>
        </p:nvSpPr>
        <p:spPr>
          <a:xfrm>
            <a:off x="871060" y="2397804"/>
            <a:ext cx="1691687" cy="9912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Requirements, modules, user flow, architecture, database design.</a:t>
            </a:r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B7DE83E9-A5E9-6997-A192-CB974FF2F948}"/>
              </a:ext>
            </a:extLst>
          </p:cNvPr>
          <p:cNvSpPr txBox="1">
            <a:spLocks/>
          </p:cNvSpPr>
          <p:nvPr/>
        </p:nvSpPr>
        <p:spPr>
          <a:xfrm>
            <a:off x="2845046" y="1578568"/>
            <a:ext cx="1877575" cy="506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latin typeface="Arial Black" panose="020B0A04020102020204" pitchFamily="34" charset="0"/>
              </a:rPr>
              <a:t>Backend Foundation</a:t>
            </a:r>
            <a:endParaRPr lang="zh-CN" altLang="en-US" sz="1600" dirty="0">
              <a:latin typeface="Arial Black" panose="020B0A04020102020204" pitchFamily="34" charset="0"/>
            </a:endParaRPr>
          </a:p>
        </p:txBody>
      </p:sp>
      <p:sp>
        <p:nvSpPr>
          <p:cNvPr id="23" name="Text Placeholder">
            <a:extLst>
              <a:ext uri="{FF2B5EF4-FFF2-40B4-BE49-F238E27FC236}">
                <a16:creationId xmlns:a16="http://schemas.microsoft.com/office/drawing/2014/main" id="{F0AC1A12-5C8F-8103-5B14-67F1BD1D4908}"/>
              </a:ext>
            </a:extLst>
          </p:cNvPr>
          <p:cNvSpPr txBox="1">
            <a:spLocks/>
          </p:cNvSpPr>
          <p:nvPr/>
        </p:nvSpPr>
        <p:spPr>
          <a:xfrm>
            <a:off x="2937604" y="2397804"/>
            <a:ext cx="1691687" cy="8111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PostgreSQL,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SQLAlchemy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Alembic and authentication.</a:t>
            </a:r>
            <a:endParaRPr lang="en-I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Placeholder">
            <a:extLst>
              <a:ext uri="{FF2B5EF4-FFF2-40B4-BE49-F238E27FC236}">
                <a16:creationId xmlns:a16="http://schemas.microsoft.com/office/drawing/2014/main" id="{F2185AA6-C73C-4F77-D851-07D8BE46009B}"/>
              </a:ext>
            </a:extLst>
          </p:cNvPr>
          <p:cNvSpPr txBox="1">
            <a:spLocks/>
          </p:cNvSpPr>
          <p:nvPr/>
        </p:nvSpPr>
        <p:spPr>
          <a:xfrm>
            <a:off x="5030630" y="1578568"/>
            <a:ext cx="1877575" cy="506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latin typeface="Arial Black" panose="020B0A04020102020204" pitchFamily="34" charset="0"/>
              </a:rPr>
              <a:t>Knowledge Base</a:t>
            </a:r>
            <a:endParaRPr lang="zh-CN" altLang="en-US" sz="1600" dirty="0">
              <a:latin typeface="Arial Black" panose="020B0A04020102020204" pitchFamily="34" charset="0"/>
            </a:endParaRPr>
          </a:p>
        </p:txBody>
      </p:sp>
      <p:sp>
        <p:nvSpPr>
          <p:cNvPr id="25" name="Text Placeholder">
            <a:extLst>
              <a:ext uri="{FF2B5EF4-FFF2-40B4-BE49-F238E27FC236}">
                <a16:creationId xmlns:a16="http://schemas.microsoft.com/office/drawing/2014/main" id="{0BA5B8D0-2569-CA4D-C920-0F0615BCC736}"/>
              </a:ext>
            </a:extLst>
          </p:cNvPr>
          <p:cNvSpPr txBox="1">
            <a:spLocks/>
          </p:cNvSpPr>
          <p:nvPr/>
        </p:nvSpPr>
        <p:spPr>
          <a:xfrm>
            <a:off x="5123188" y="2397804"/>
            <a:ext cx="1691687" cy="8111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Scheme database, categories, departments, sources and CRUD APIs.</a:t>
            </a:r>
          </a:p>
        </p:txBody>
      </p:sp>
      <p:sp>
        <p:nvSpPr>
          <p:cNvPr id="26" name="Text Placeholder">
            <a:extLst>
              <a:ext uri="{FF2B5EF4-FFF2-40B4-BE49-F238E27FC236}">
                <a16:creationId xmlns:a16="http://schemas.microsoft.com/office/drawing/2014/main" id="{B93B1145-0722-E99D-C672-6A643E258963}"/>
              </a:ext>
            </a:extLst>
          </p:cNvPr>
          <p:cNvSpPr txBox="1">
            <a:spLocks/>
          </p:cNvSpPr>
          <p:nvPr/>
        </p:nvSpPr>
        <p:spPr>
          <a:xfrm>
            <a:off x="7216214" y="1578568"/>
            <a:ext cx="1877575" cy="506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latin typeface="Arial Black" panose="020B0A04020102020204" pitchFamily="34" charset="0"/>
              </a:rPr>
              <a:t>Frontend</a:t>
            </a:r>
            <a:endParaRPr lang="zh-CN" altLang="en-US" sz="1600" dirty="0">
              <a:latin typeface="Arial Black" panose="020B0A04020102020204" pitchFamily="34" charset="0"/>
            </a:endParaRPr>
          </a:p>
        </p:txBody>
      </p:sp>
      <p:sp>
        <p:nvSpPr>
          <p:cNvPr id="27" name="Text Placeholder">
            <a:extLst>
              <a:ext uri="{FF2B5EF4-FFF2-40B4-BE49-F238E27FC236}">
                <a16:creationId xmlns:a16="http://schemas.microsoft.com/office/drawing/2014/main" id="{09D3A343-D0C8-C348-07CA-ADDAE79033AB}"/>
              </a:ext>
            </a:extLst>
          </p:cNvPr>
          <p:cNvSpPr txBox="1">
            <a:spLocks/>
          </p:cNvSpPr>
          <p:nvPr/>
        </p:nvSpPr>
        <p:spPr>
          <a:xfrm>
            <a:off x="7308772" y="2397804"/>
            <a:ext cx="1691687" cy="8111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Responsive UI, authentication, scheme browsing and user/admin dashboards.</a:t>
            </a:r>
          </a:p>
        </p:txBody>
      </p:sp>
      <p:sp>
        <p:nvSpPr>
          <p:cNvPr id="28" name="Text Placeholder">
            <a:extLst>
              <a:ext uri="{FF2B5EF4-FFF2-40B4-BE49-F238E27FC236}">
                <a16:creationId xmlns:a16="http://schemas.microsoft.com/office/drawing/2014/main" id="{C2C0A044-1D46-DC38-871C-60EA4CA04F78}"/>
              </a:ext>
            </a:extLst>
          </p:cNvPr>
          <p:cNvSpPr txBox="1">
            <a:spLocks/>
          </p:cNvSpPr>
          <p:nvPr/>
        </p:nvSpPr>
        <p:spPr>
          <a:xfrm>
            <a:off x="9385368" y="1578568"/>
            <a:ext cx="1877575" cy="506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latin typeface="Arial Black" panose="020B0A04020102020204" pitchFamily="34" charset="0"/>
              </a:rPr>
              <a:t>Discovery</a:t>
            </a:r>
            <a:endParaRPr lang="zh-CN" altLang="en-US" sz="1600" dirty="0">
              <a:latin typeface="Arial Black" panose="020B0A04020102020204" pitchFamily="34" charset="0"/>
            </a:endParaRPr>
          </a:p>
        </p:txBody>
      </p:sp>
      <p:sp>
        <p:nvSpPr>
          <p:cNvPr id="31" name="Text Placeholder">
            <a:extLst>
              <a:ext uri="{FF2B5EF4-FFF2-40B4-BE49-F238E27FC236}">
                <a16:creationId xmlns:a16="http://schemas.microsoft.com/office/drawing/2014/main" id="{AA6BA47C-C311-7254-5A65-23EFFE822F0C}"/>
              </a:ext>
            </a:extLst>
          </p:cNvPr>
          <p:cNvSpPr txBox="1">
            <a:spLocks/>
          </p:cNvSpPr>
          <p:nvPr/>
        </p:nvSpPr>
        <p:spPr>
          <a:xfrm>
            <a:off x="9477926" y="2397804"/>
            <a:ext cx="1691687" cy="8111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Questionnaire, eligibility rules, recommendation and explainability.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140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529148"/>
            <a:ext cx="9823998" cy="1325563"/>
          </a:xfrm>
        </p:spPr>
        <p:txBody>
          <a:bodyPr/>
          <a:lstStyle/>
          <a:p>
            <a:r>
              <a:rPr lang="en-IN" sz="4000" dirty="0">
                <a:latin typeface="Arial Black" panose="020B0A04020102020204" pitchFamily="34" charset="0"/>
              </a:rPr>
              <a:t>Future Scope</a:t>
            </a:r>
            <a:endParaRPr lang="en-US" sz="4000" dirty="0">
              <a:latin typeface="Arial Black" panose="020B0A04020102020204" pitchFamily="34" charset="0"/>
            </a:endParaRP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8077" y="1427070"/>
            <a:ext cx="4959822" cy="4260850"/>
          </a:xfrm>
        </p:spPr>
        <p:txBody>
          <a:bodyPr/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 architecture can later support: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Malayalam, Hindi, Tamil and other Indian languages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Voice-based AI assistance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Location-aware scheme discovery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More advanced personalized recommendations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Government notification alerts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Saved / bookmarked schemes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Application deadline reminders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Additional State Government integrations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Mobile application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Advanced analytics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Expanded automated source monitoring</a:t>
            </a:r>
          </a:p>
        </p:txBody>
      </p:sp>
      <p:pic>
        <p:nvPicPr>
          <p:cNvPr id="38" name="Picture Placeholder 37" descr="People working in office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57533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14" name="Picture Placeholder 13" descr="People working in office">
            <a:extLst>
              <a:ext uri="{FF2B5EF4-FFF2-40B4-BE49-F238E27FC236}">
                <a16:creationId xmlns:a16="http://schemas.microsoft.com/office/drawing/2014/main" id="{496155F4-61B2-441D-9F16-788866450DA2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6" name="Picture Placeholder 15" descr="People in an office discussing work over a laptop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Picture Placeholder 17" descr="Layout of website design sketches on white paper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96000" y="3093990"/>
            <a:ext cx="5784850" cy="3205210"/>
          </a:xfrm>
        </p:spPr>
        <p:txBody>
          <a:bodyPr/>
          <a:lstStyle/>
          <a:p>
            <a:r>
              <a:rPr lang="en-IN" dirty="0"/>
              <a:t>GOVERNMENT SCHEME AI ADVISER</a:t>
            </a:r>
          </a:p>
          <a:p>
            <a:endParaRPr lang="en-IN" dirty="0"/>
          </a:p>
          <a:p>
            <a:r>
              <a:rPr lang="en-IN" b="1" dirty="0"/>
              <a:t>AI-Powered Scheme Discovery &amp; Eligibility Recommendation</a:t>
            </a:r>
          </a:p>
          <a:p>
            <a:r>
              <a:rPr lang="en-IN" b="1" dirty="0"/>
              <a:t>Making Government Scheme Information Easier to Discover, Understand and Access</a:t>
            </a:r>
            <a:endParaRPr lang="en-IN" dirty="0"/>
          </a:p>
          <a:p>
            <a:endParaRPr lang="en-IN" dirty="0"/>
          </a:p>
        </p:txBody>
      </p:sp>
      <p:pic>
        <p:nvPicPr>
          <p:cNvPr id="28" name="Picture Placeholder 27" descr="Businesswoman reviewing sticky notes on a wall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653</TotalTime>
  <Words>737</Words>
  <Application>Microsoft Office PowerPoint</Application>
  <PresentationFormat>Widescreen</PresentationFormat>
  <Paragraphs>220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等线</vt:lpstr>
      <vt:lpstr>Abadi</vt:lpstr>
      <vt:lpstr>Arial</vt:lpstr>
      <vt:lpstr>Arial Black</vt:lpstr>
      <vt:lpstr>Calibri</vt:lpstr>
      <vt:lpstr>Posterama</vt:lpstr>
      <vt:lpstr>Posterama Text Black</vt:lpstr>
      <vt:lpstr>Posterama Text SemiBold</vt:lpstr>
      <vt:lpstr>Custom​​</vt:lpstr>
      <vt:lpstr>PresentaAI-Powered Government Scheme Discovery &amp; Eligibility</vt:lpstr>
      <vt:lpstr>PROBLEM STATEMENT</vt:lpstr>
      <vt:lpstr>Project Objective</vt:lpstr>
      <vt:lpstr>Target Users</vt:lpstr>
      <vt:lpstr>Proposed Solution</vt:lpstr>
      <vt:lpstr>Core Modules</vt:lpstr>
      <vt:lpstr>User</vt:lpstr>
      <vt:lpstr>Technology Stack</vt:lpstr>
      <vt:lpstr>Technology Stack</vt:lpstr>
      <vt:lpstr>Technology Stack</vt:lpstr>
      <vt:lpstr>Technology Stack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Vyshnav Hareendran</dc:creator>
  <cp:lastModifiedBy>Vyshnav Hareendran</cp:lastModifiedBy>
  <cp:revision>1</cp:revision>
  <dcterms:created xsi:type="dcterms:W3CDTF">2026-07-27T06:56:12Z</dcterms:created>
  <dcterms:modified xsi:type="dcterms:W3CDTF">2026-07-27T17:49:18Z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